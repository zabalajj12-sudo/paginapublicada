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72" r:id="rId4"/>
    <p:sldMasterId id="2147483685" r:id="rId5"/>
    <p:sldMasterId id="2147483687" r:id="rId6"/>
  </p:sldMasterIdLst>
  <p:notesMasterIdLst>
    <p:notesMasterId r:id="rId12"/>
  </p:notesMasterIdLst>
  <p:sldIdLst>
    <p:sldId id="256" r:id="rId7"/>
    <p:sldId id="2076136843" r:id="rId8"/>
    <p:sldId id="2076136851" r:id="rId19"/>
    <p:sldId id="1788" r:id="rId10"/>
    <p:sldId id="2076136852" r:id="rId20"/>
    <p:sldId id="2076136853" r:id="rId21"/>
    <p:sldId id="2076136854" r:id="rId22"/>
    <p:sldId id="2076136855" r:id="rId23"/>
    <p:sldId id="2076136861" r:id="rId29"/>
    <p:sldId id="2076136856" r:id="rId24"/>
    <p:sldId id="2076136857" r:id="rId25"/>
    <p:sldId id="2076136862" r:id="rId30"/>
    <p:sldId id="2076136858" r:id="rId26"/>
    <p:sldId id="2076136859" r:id="rId27"/>
    <p:sldId id="2076136860" r:id="rId28"/>
    <p:sldId id="260" r:id="rId11"/>
  </p:sldIdLst>
  <p:sldSz cx="13816013" cy="7772400"/>
  <p:notesSz cx="6858000" cy="9144000"/>
  <p:defaultTextStyle>
    <a:defPPr>
      <a:defRPr lang="es-CO"/>
    </a:defPPr>
    <a:lvl1pPr marL="0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1pPr>
    <a:lvl2pPr marL="518099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2pPr>
    <a:lvl3pPr marL="1036198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3pPr>
    <a:lvl4pPr marL="1554297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4pPr>
    <a:lvl5pPr marL="2072396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5pPr>
    <a:lvl6pPr marL="2590495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6pPr>
    <a:lvl7pPr marL="3108594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7pPr>
    <a:lvl8pPr marL="3626693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8pPr>
    <a:lvl9pPr marL="4144792" algn="l" defTabSz="1036198" rtl="0" eaLnBrk="1" latinLnBrk="0" hangingPunct="1">
      <a:defRPr sz="20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E51C95-66EC-566D-5DB2-6C5324B08771}" name="Usuario invitado" initials="Ui" userId="S::urn:spo:anon#4042ed770baeeda5396ef5cc70f8ced8786694da1d89631749a706da5995d6d9::" providerId="AD"/>
  <p188:author id="{0D8ADCD0-3987-615C-E9FC-F1A21DEDDD89}" name="Usuario invitado" initials="Ui" userId="S::urn:spo:anon#862578e004f46ff0461dc97de3df8e84a978591848404365e2cd1fd97e7d5619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Usuario invitado" initials="Ui [2]" lastIdx="9" clrIdx="6">
    <p:extLst>
      <p:ext uri="{19B8F6BF-5375-455C-9EA6-DF929625EA0E}">
        <p15:presenceInfo xmlns:p15="http://schemas.microsoft.com/office/powerpoint/2012/main" userId="S::urn:spo:anon#4042ed770baeeda5396ef5cc70f8ced8786694da1d89631749a706da5995d6d9::" providerId="AD"/>
      </p:ext>
    </p:extLst>
  </p:cmAuthor>
  <p:cmAuthor id="1" name="Ana Maria Jimenez Rodas" initials="AMJR" lastIdx="15" clrIdx="0">
    <p:extLst>
      <p:ext uri="{19B8F6BF-5375-455C-9EA6-DF929625EA0E}">
        <p15:presenceInfo xmlns:p15="http://schemas.microsoft.com/office/powerpoint/2012/main" userId="Ana Maria Jimenez Rodas" providerId="None"/>
      </p:ext>
    </p:extLst>
  </p:cmAuthor>
  <p:cmAuthor id="8" name="Javier Fernando Salgado Garavito" initials="JG" lastIdx="1" clrIdx="7">
    <p:extLst>
      <p:ext uri="{19B8F6BF-5375-455C-9EA6-DF929625EA0E}">
        <p15:presenceInfo xmlns:p15="http://schemas.microsoft.com/office/powerpoint/2012/main" userId="S::javier.salgado@upb.edu.co::5197a2e0-ce8d-4c30-80ee-688efa5d2851" providerId="AD"/>
      </p:ext>
    </p:extLst>
  </p:cmAuthor>
  <p:cmAuthor id="2" name="Monica Uribe Rios" initials="MUR" lastIdx="47" clrIdx="1">
    <p:extLst>
      <p:ext uri="{19B8F6BF-5375-455C-9EA6-DF929625EA0E}">
        <p15:presenceInfo xmlns:p15="http://schemas.microsoft.com/office/powerpoint/2012/main" userId="S-1-5-21-1068781674-1441141254-2231668459-1298" providerId="AD"/>
      </p:ext>
    </p:extLst>
  </p:cmAuthor>
  <p:cmAuthor id="3" name="Monica Uribe Rios" initials="MUR [2]" lastIdx="31" clrIdx="2">
    <p:extLst>
      <p:ext uri="{19B8F6BF-5375-455C-9EA6-DF929625EA0E}">
        <p15:presenceInfo xmlns:p15="http://schemas.microsoft.com/office/powerpoint/2012/main" userId="Monica Uribe Rios" providerId="None"/>
      </p:ext>
    </p:extLst>
  </p:cmAuthor>
  <p:cmAuthor id="4" name="Usuario invitado" initials="Ui" lastIdx="2" clrIdx="3">
    <p:extLst>
      <p:ext uri="{19B8F6BF-5375-455C-9EA6-DF929625EA0E}">
        <p15:presenceInfo xmlns:p15="http://schemas.microsoft.com/office/powerpoint/2012/main" userId="S::urn:spo:anon#e6f8f09771a4349bdf6ef10831a7f417467d2d136e6878d8bb0765ad71bfe82e::" providerId="AD"/>
      </p:ext>
    </p:extLst>
  </p:cmAuthor>
  <p:cmAuthor id="5" name="Javier Fernando Salgado Garavito" initials="JFSG" lastIdx="11" clrIdx="4">
    <p:extLst>
      <p:ext uri="{19B8F6BF-5375-455C-9EA6-DF929625EA0E}">
        <p15:presenceInfo xmlns:p15="http://schemas.microsoft.com/office/powerpoint/2012/main" userId="S-1-5-21-1068781674-1441141254-2231668459-5065" providerId="AD"/>
      </p:ext>
    </p:extLst>
  </p:cmAuthor>
  <p:cmAuthor id="6" name="Alvaro De Jesus Gomez Fernandez" initials="AF" lastIdx="38" clrIdx="5">
    <p:extLst>
      <p:ext uri="{19B8F6BF-5375-455C-9EA6-DF929625EA0E}">
        <p15:presenceInfo xmlns:p15="http://schemas.microsoft.com/office/powerpoint/2012/main" userId="S::alvaro.gomez@upb.edu.co::938830ca-b3ec-404a-91bb-4252d73fba8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82F8"/>
    <a:srgbClr val="AD3DFF"/>
    <a:srgbClr val="FD91F0"/>
    <a:srgbClr val="D0EB00"/>
    <a:srgbClr val="FFCD28"/>
    <a:srgbClr val="FF9933"/>
    <a:srgbClr val="E50213"/>
    <a:srgbClr val="000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9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0003B-539A-40A3-AA76-96E86601DCBE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7E80F-A5E9-4B66-935F-769D34CBAE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955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0:00–0:20 · María Angel. Saludo y presentación del equipo: Juan José (líder), María Angel (análisis), Salomé (diseño) y Matías (bases de datos). Decir el nombre del proyecto y del colegio.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0:20–1:30 · María Angel. Explicar con sus palabras la situación, a quién afecta y por qué importa. Puede dar un ejemplo cercano: "¿Quién ha dudado a dónde ir de vacaciones?". Rúbrica: identificación del problema (10 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1:30–3:00 · María Angel. Los tres pasos: gustos, entorno y destino. Mencionar quién lo usaría y qué beneficios tiene. Cierre del bloque de María Angel: "Ahora Salomé les muestra cómo funciona". Rúbrica: calidad de la solución (15 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 · Cambio de orador: Salomé. Frase de paso: "Ahora veamos FindYourPlace funcionando".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5:30 · Cambio de orador: Matías.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7:00 · Cambio de orador: Juan José.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3:00–3:30 · Salomé. Presentar la ruta en 30 segundos y empezar la demostración en vivo con el usuario de prueba. Plan B: video o capturas de respaldo si falla la conexión (Render gratis puede tardar en despertar: abrir la página antes de empezar).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3:30–4:15 · Salomé. Mostrar el inicio de sesión y el registro. Entrar con el usuario de demostración. Decir que el acceso es obligatorio y que las contraseñas se guardan cifradas.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4:15–5:00 · Salomé. En vivo: marcar dos o tres gustos, elegir el entorno y pulsar "Encontrar mi destino". Comentar la foto y la descripción del destino. El funcionamiento del software pesa 20 puntos: probar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5:00–5:30 · Salomé. En vivo: escribir "¿Dónde compro tiquetes hacia allá?" y mostrar la respuesta. El asistente reconoce la intención de la pregunta con reglas (no usa IA externa). Cierre: "Ahora Matías les cuenta cómo está hecho".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5:30–6:30 · Matías. Antes de la arquitectura, comentar rápido el historial: cada recomendación se guarda en SQLite (tabla registros) con fecha, usuario, intereses, entorno y destino. Luego recorrer las cuatro capas de izquierda a derecha. Rúbrica: calidad técnica y arquitectura (15 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6:30–7:00 · Matías. Nombrar las seis tecnologías sin leer la lista y explicar el reto del Tayrona: la búsqueda de fotos por nombre devolvía otro lugar; se solucionó buscando por título en la API de Wikipedia. Cierre: "Ahora Juan José les cuenta del equipo y del impacto".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7:00–8:00 · Juan José. Presentar a cada integrante con una frase (todos ya se presentaron en la portada, no repetir cargos). Contar qué aprendieron y qué aportó la Media Técnica. Rúbrica: dominio y trabajo en equipo (10 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8:00–9:00 · Juan José. Hablar del impacto real, ser honestos con lo que falta (acceso con Google en modo de prueba, el alojamiento gratis se duerme) y mencionar ideas futuras. Rúbrica: innovación e impacto (10 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9:00–10:00 · Juan José. Conclusión en una frase, agradecer al jurado y al público e invitar a la mesa para probar la página con el QR. Terminar en 10:00 exactos. Después vienen las preguntas: responden los cuatro.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de cierre de la plantilla UPB. Dejarla mientras se responden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6587" y="7138554"/>
            <a:ext cx="3108603" cy="413808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E86D99A-6DE4-D041-B796-DF0F27C8C0C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749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95CBFF-2B82-DF46-9254-4229984E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6587" y="7138554"/>
            <a:ext cx="3108603" cy="413808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E86D99A-6DE4-D041-B796-DF0F27C8C0C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242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6587" y="7138554"/>
            <a:ext cx="3108603" cy="413808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E86D99A-6DE4-D041-B796-DF0F27C8C0C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612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60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6587" y="7138554"/>
            <a:ext cx="3108603" cy="413808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E86D99A-6DE4-D041-B796-DF0F27C8C0C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23880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07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</p:sldLayoutIdLst>
  <p:txStyles>
    <p:titleStyle>
      <a:lvl1pPr algn="l" defTabSz="1036198" rtl="0" eaLnBrk="1" latinLnBrk="0" hangingPunct="1">
        <a:lnSpc>
          <a:spcPct val="90000"/>
        </a:lnSpc>
        <a:spcBef>
          <a:spcPct val="0"/>
        </a:spcBef>
        <a:buNone/>
        <a:defRPr sz="4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50" indent="-259050" algn="l" defTabSz="1036198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149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248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6" kern="1200">
          <a:solidFill>
            <a:schemeClr val="tx1"/>
          </a:solidFill>
          <a:latin typeface="+mn-lt"/>
          <a:ea typeface="+mn-ea"/>
          <a:cs typeface="+mn-cs"/>
        </a:defRPr>
      </a:lvl3pPr>
      <a:lvl4pPr marL="1813347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446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545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644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5743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3842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099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198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297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396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495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594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6693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4792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48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1036198" rtl="0" eaLnBrk="1" latinLnBrk="0" hangingPunct="1">
        <a:lnSpc>
          <a:spcPct val="90000"/>
        </a:lnSpc>
        <a:spcBef>
          <a:spcPct val="0"/>
        </a:spcBef>
        <a:buNone/>
        <a:defRPr sz="4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50" indent="-259050" algn="l" defTabSz="1036198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149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248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6" kern="1200">
          <a:solidFill>
            <a:schemeClr val="tx1"/>
          </a:solidFill>
          <a:latin typeface="+mn-lt"/>
          <a:ea typeface="+mn-ea"/>
          <a:cs typeface="+mn-cs"/>
        </a:defRPr>
      </a:lvl3pPr>
      <a:lvl4pPr marL="1813347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446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545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644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5743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3842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099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198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297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396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495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594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6693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4792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0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1036198" rtl="0" eaLnBrk="1" latinLnBrk="0" hangingPunct="1">
        <a:lnSpc>
          <a:spcPct val="90000"/>
        </a:lnSpc>
        <a:spcBef>
          <a:spcPct val="0"/>
        </a:spcBef>
        <a:buNone/>
        <a:defRPr sz="4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50" indent="-259050" algn="l" defTabSz="1036198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149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248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6" kern="1200">
          <a:solidFill>
            <a:schemeClr val="tx1"/>
          </a:solidFill>
          <a:latin typeface="+mn-lt"/>
          <a:ea typeface="+mn-ea"/>
          <a:cs typeface="+mn-cs"/>
        </a:defRPr>
      </a:lvl3pPr>
      <a:lvl4pPr marL="1813347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446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545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644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5743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3842" indent="-259050" algn="l" defTabSz="103619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099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198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297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396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495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594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6693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4792" algn="l" defTabSz="1036198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565FEF2D-9156-41B9-B740-8A33A508B1EF}"/>
              </a:ext>
            </a:extLst>
          </p:cNvPr>
          <p:cNvSpPr/>
          <p:nvPr/>
        </p:nvSpPr>
        <p:spPr>
          <a:xfrm>
            <a:off x="1095171" y="4307843"/>
            <a:ext cx="950976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FindYourPlace</a:t>
            </a:r>
            <a:endParaRPr lang="es-ES" sz="3600" b="1" dirty="0">
              <a:latin typeface="Vice City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B43BF0-956A-ECE6-85AC-BF4CE2A6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478" y="221186"/>
            <a:ext cx="5667375" cy="1828800"/>
          </a:xfrm>
          <a:prstGeom prst="rect">
            <a:avLst/>
          </a:prstGeom>
        </p:spPr>
      </p:pic>
      <p:sp>
        <p:nvSpPr>
          <p:cNvPr id="4" name="Subtítulo"/>
          <p:cNvSpPr txBox="1"/>
          <p:nvPr/>
        </p:nvSpPr>
        <p:spPr>
          <a:xfrm>
            <a:off x="1188720" y="507492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Recomendador de destinos de viaje según tus gustos</a:t>
            </a:r>
          </a:p>
        </p:txBody>
      </p:sp>
      <p:sp>
        <p:nvSpPr>
          <p:cNvPr id="5" name="Integrantes"/>
          <p:cNvSpPr txBox="1"/>
          <p:nvPr/>
        </p:nvSpPr>
        <p:spPr>
          <a:xfrm>
            <a:off x="1188720" y="562356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Juan José Zabala Galvis · María Angel Vega Medrano</a:t>
            </a:r>
          </a:p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Salomé Uribe Rengifo · Matías Tobón García</a:t>
            </a:r>
          </a:p>
        </p:txBody>
      </p:sp>
      <p:sp>
        <p:nvSpPr>
          <p:cNvPr id="6" name="Colegio"/>
          <p:cNvSpPr txBox="1"/>
          <p:nvPr/>
        </p:nvSpPr>
        <p:spPr>
          <a:xfrm>
            <a:off x="1188720" y="635508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[Nombre del colegio] · Media Técnica en Desarrollo de Software</a:t>
            </a:r>
          </a:p>
        </p:txBody>
      </p:sp>
    </p:spTree>
    <p:extLst>
      <p:ext uri="{BB962C8B-B14F-4D97-AF65-F5344CB8AC3E}">
        <p14:creationId xmlns:p14="http://schemas.microsoft.com/office/powerpoint/2010/main" val="195533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El problema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Idea principal"/>
          <p:cNvSpPr txBox="1"/>
          <p:nvPr/>
        </p:nvSpPr>
        <p:spPr>
          <a:xfrm>
            <a:off x="722376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Elegir a dónde viajar no debería ser tan difícil</a:t>
            </a:r>
          </a:p>
        </p:txBody>
      </p:sp>
      <p:sp>
        <p:nvSpPr>
          <p:cNvPr id="19" name="Tarjeta La situación"/>
          <p:cNvSpPr/>
          <p:nvPr/>
        </p:nvSpPr>
        <p:spPr>
          <a:xfrm>
            <a:off x="722376" y="2103120"/>
            <a:ext cx="3931920" cy="31546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a situación fondo"/>
          <p:cNvSpPr/>
          <p:nvPr/>
        </p:nvSpPr>
        <p:spPr>
          <a:xfrm>
            <a:off x="1042416" y="2423160"/>
            <a:ext cx="868680" cy="86868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La situación icono" descr="search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586" y="2640329"/>
            <a:ext cx="434340" cy="4343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2416" y="3474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La situación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393192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Hay miles de destinos, blogs y reseñas que se contradicen. Es fácil perderse antes de decidir.</a:t>
            </a:r>
          </a:p>
        </p:txBody>
      </p:sp>
      <p:sp>
        <p:nvSpPr>
          <p:cNvPr id="24" name="Tarjeta A quién afecta"/>
          <p:cNvSpPr/>
          <p:nvPr/>
        </p:nvSpPr>
        <p:spPr>
          <a:xfrm>
            <a:off x="4928616" y="2103120"/>
            <a:ext cx="3931920" cy="31546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 quién afecta fondo"/>
          <p:cNvSpPr/>
          <p:nvPr/>
        </p:nvSpPr>
        <p:spPr>
          <a:xfrm>
            <a:off x="5248655" y="2423160"/>
            <a:ext cx="868680" cy="86868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A quién afecta icono" descr="users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825" y="2640329"/>
            <a:ext cx="434340" cy="4343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48655" y="3474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A quién afecta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5" y="393192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Viajeros primerizos, familias y estudiantes que no saben por dónde empezar.</a:t>
            </a:r>
          </a:p>
        </p:txBody>
      </p:sp>
      <p:sp>
        <p:nvSpPr>
          <p:cNvPr id="29" name="Tarjeta Por qué importa"/>
          <p:cNvSpPr/>
          <p:nvPr/>
        </p:nvSpPr>
        <p:spPr>
          <a:xfrm>
            <a:off x="9134855" y="2103120"/>
            <a:ext cx="3931920" cy="31546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 qué importa fondo"/>
          <p:cNvSpPr/>
          <p:nvPr/>
        </p:nvSpPr>
        <p:spPr>
          <a:xfrm>
            <a:off x="9454895" y="2423160"/>
            <a:ext cx="868680" cy="86868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or qué importa icono" descr="hourglass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2065" y="2640329"/>
            <a:ext cx="434340" cy="4343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54895" y="3474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Por qué importa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5" y="393192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Se pierde tiempo, se decide mal y la información queda repartida en muchos sitios.</a:t>
            </a:r>
          </a:p>
        </p:txBody>
      </p:sp>
      <p:sp>
        <p:nvSpPr>
          <p:cNvPr id="34" name="Conclusión del problema"/>
          <p:cNvSpPr/>
          <p:nvPr/>
        </p:nvSpPr>
        <p:spPr>
          <a:xfrm>
            <a:off x="722376" y="5486400"/>
            <a:ext cx="12344400" cy="77724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486400"/>
            <a:ext cx="11704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BDCD15"/>
                </a:solidFill>
                <a:latin typeface="Calibri"/>
              </a:rPr>
              <a:t>Necesitamos ayuda para decidir, no más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565FEF2D-9156-41B9-B740-8A33A508B1EF}"/>
              </a:ext>
            </a:extLst>
          </p:cNvPr>
          <p:cNvSpPr/>
          <p:nvPr/>
        </p:nvSpPr>
        <p:spPr>
          <a:xfrm>
            <a:off x="1095171" y="4307843"/>
            <a:ext cx="950976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solidFill>
                  <a:srgbClr val="FFFFFF"/>
                </a:solidFill>
                <a:latin typeface="Vice City Sans"/>
                <a:cs typeface="Calibri Light"/>
              </a:rPr>
              <a:t>Demostración</a:t>
            </a:r>
            <a:endParaRPr lang="es-ES" sz="3600" b="1" dirty="0">
              <a:latin typeface="Vice City Sans"/>
            </a:endParaRPr>
          </a:p>
        </p:txBody>
      </p:sp>
      <p:sp>
        <p:nvSpPr>
          <p:cNvPr id="3" name="Subtítulo"/>
          <p:cNvSpPr txBox="1"/>
          <p:nvPr/>
        </p:nvSpPr>
        <p:spPr>
          <a:xfrm>
            <a:off x="1188720" y="5074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DCD15"/>
                </a:solidFill>
                <a:latin typeface="Calibri"/>
              </a:rPr>
              <a:t>Cómo se usa, de principio a fin</a:t>
            </a:r>
          </a:p>
        </p:txBody>
      </p:sp>
    </p:spTree>
    <p:extLst>
      <p:ext uri="{BB962C8B-B14F-4D97-AF65-F5344CB8AC3E}">
        <p14:creationId xmlns:p14="http://schemas.microsoft.com/office/powerpoint/2010/main" val="419759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67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Nuestra solución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Paso 1"/>
          <p:cNvSpPr/>
          <p:nvPr/>
        </p:nvSpPr>
        <p:spPr>
          <a:xfrm>
            <a:off x="722376" y="1463040"/>
            <a:ext cx="3931920" cy="233172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úmero 1"/>
          <p:cNvSpPr/>
          <p:nvPr/>
        </p:nvSpPr>
        <p:spPr>
          <a:xfrm>
            <a:off x="1042416" y="1737360"/>
            <a:ext cx="594360" cy="59436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3247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24688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Marcas lo que te gusta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29260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Playa, aventura, cultura, gastronomía, lujo y spa o naturaleza.</a:t>
            </a:r>
          </a:p>
        </p:txBody>
      </p:sp>
      <p:sp>
        <p:nvSpPr>
          <p:cNvPr id="22" name="Paso 2"/>
          <p:cNvSpPr/>
          <p:nvPr/>
        </p:nvSpPr>
        <p:spPr>
          <a:xfrm>
            <a:off x="4928616" y="1463040"/>
            <a:ext cx="3931920" cy="233172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úmero 2"/>
          <p:cNvSpPr/>
          <p:nvPr/>
        </p:nvSpPr>
        <p:spPr>
          <a:xfrm>
            <a:off x="5248655" y="1737360"/>
            <a:ext cx="594360" cy="59436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3247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5" y="24688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Eliges el entorno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29260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Nacional o internacional, según lo que quieras explorar.</a:t>
            </a:r>
          </a:p>
        </p:txBody>
      </p:sp>
      <p:sp>
        <p:nvSpPr>
          <p:cNvPr id="26" name="Paso 3"/>
          <p:cNvSpPr/>
          <p:nvPr/>
        </p:nvSpPr>
        <p:spPr>
          <a:xfrm>
            <a:off x="9134855" y="1463040"/>
            <a:ext cx="3931920" cy="233172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úmero 3"/>
          <p:cNvSpPr/>
          <p:nvPr/>
        </p:nvSpPr>
        <p:spPr>
          <a:xfrm>
            <a:off x="9454895" y="1737360"/>
            <a:ext cx="594360" cy="59436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3247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5" y="24688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Recibes tu destino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5" y="29260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Un lugar con foto, descripción y un asistente que te ayuda a viajar.</a:t>
            </a:r>
          </a:p>
        </p:txBody>
      </p:sp>
      <p:sp>
        <p:nvSpPr>
          <p:cNvPr id="30" name="¿Quiénes lo usarían?"/>
          <p:cNvSpPr/>
          <p:nvPr/>
        </p:nvSpPr>
        <p:spPr>
          <a:xfrm>
            <a:off x="722376" y="4114800"/>
            <a:ext cx="6035040" cy="214884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¿Quiénes lo usarían? fondo"/>
          <p:cNvSpPr/>
          <p:nvPr/>
        </p:nvSpPr>
        <p:spPr>
          <a:xfrm>
            <a:off x="1042416" y="443484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¿Quiénes lo usarían? icono" descr="user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26" y="4629150"/>
            <a:ext cx="388620" cy="3886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48256" y="44348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¿Quiénes lo usarían?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489204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Viajeros que no saben a dónde ir, familias, estudiantes y agencias que quieran sugerir destinos.</a:t>
            </a:r>
          </a:p>
        </p:txBody>
      </p:sp>
      <p:sp>
        <p:nvSpPr>
          <p:cNvPr id="35" name="Beneficios"/>
          <p:cNvSpPr/>
          <p:nvPr/>
        </p:nvSpPr>
        <p:spPr>
          <a:xfrm>
            <a:off x="7031736" y="4114800"/>
            <a:ext cx="6035040" cy="214884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eneficios fondo"/>
          <p:cNvSpPr/>
          <p:nvPr/>
        </p:nvSpPr>
        <p:spPr>
          <a:xfrm>
            <a:off x="7351776" y="443484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Beneficios icono" descr="star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086" y="4629150"/>
            <a:ext cx="388620" cy="3886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57616" y="44348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Beneficios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89204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Respuesta rápida, recomendación personalizada e historial guardado de cada búsqueda.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Ruta de la demostración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Paso Entrar"/>
          <p:cNvSpPr/>
          <p:nvPr/>
        </p:nvSpPr>
        <p:spPr>
          <a:xfrm>
            <a:off x="722376" y="1463040"/>
            <a:ext cx="2286000" cy="36118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trar fondo"/>
          <p:cNvSpPr/>
          <p:nvPr/>
        </p:nvSpPr>
        <p:spPr>
          <a:xfrm>
            <a:off x="996696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Entrar icono" descr="signin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943100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6696" y="2788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1. Entrar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3337560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Inicio de sesión o registro, también con Google.</a:t>
            </a:r>
          </a:p>
        </p:txBody>
      </p:sp>
      <p:sp>
        <p:nvSpPr>
          <p:cNvPr id="23" name="Paso Elegir"/>
          <p:cNvSpPr/>
          <p:nvPr/>
        </p:nvSpPr>
        <p:spPr>
          <a:xfrm>
            <a:off x="3236976" y="1463040"/>
            <a:ext cx="2286000" cy="36118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legir fondo"/>
          <p:cNvSpPr/>
          <p:nvPr/>
        </p:nvSpPr>
        <p:spPr>
          <a:xfrm>
            <a:off x="3511296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Elegir icono" descr="sliders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5" y="194310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11296" y="2788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2. Elegir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3337560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Gustos y entorno: nacional o internacional.</a:t>
            </a:r>
          </a:p>
        </p:txBody>
      </p:sp>
      <p:sp>
        <p:nvSpPr>
          <p:cNvPr id="28" name="Paso Recibir"/>
          <p:cNvSpPr/>
          <p:nvPr/>
        </p:nvSpPr>
        <p:spPr>
          <a:xfrm>
            <a:off x="5751576" y="1463040"/>
            <a:ext cx="2286000" cy="36118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ibir fondo"/>
          <p:cNvSpPr/>
          <p:nvPr/>
        </p:nvSpPr>
        <p:spPr>
          <a:xfrm>
            <a:off x="6025896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Recibir icono" descr="map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36" y="1943100"/>
            <a:ext cx="411480" cy="411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25896" y="2788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3. Recibir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3337560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Un destino recomendado con foto y descripción.</a:t>
            </a:r>
          </a:p>
        </p:txBody>
      </p:sp>
      <p:sp>
        <p:nvSpPr>
          <p:cNvPr id="33" name="Paso Preguntar"/>
          <p:cNvSpPr/>
          <p:nvPr/>
        </p:nvSpPr>
        <p:spPr>
          <a:xfrm>
            <a:off x="8266175" y="1463040"/>
            <a:ext cx="2286000" cy="36118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reguntar fondo"/>
          <p:cNvSpPr/>
          <p:nvPr/>
        </p:nvSpPr>
        <p:spPr>
          <a:xfrm>
            <a:off x="8540496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reguntar icono" descr="comments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236" y="1943100"/>
            <a:ext cx="411480" cy="411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40496" y="2788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4. Preguntar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3337560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El asistente responde cómo llegar, clima y hospedaje.</a:t>
            </a:r>
          </a:p>
        </p:txBody>
      </p:sp>
      <p:sp>
        <p:nvSpPr>
          <p:cNvPr id="38" name="Paso Revisar"/>
          <p:cNvSpPr/>
          <p:nvPr/>
        </p:nvSpPr>
        <p:spPr>
          <a:xfrm>
            <a:off x="10780776" y="1463040"/>
            <a:ext cx="2286000" cy="36118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sar fondo"/>
          <p:cNvSpPr/>
          <p:nvPr/>
        </p:nvSpPr>
        <p:spPr>
          <a:xfrm>
            <a:off x="11055096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Revisar icono" descr="history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0836" y="1943100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055096" y="2788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5. Revisar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55096" y="3337560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Cada búsqueda queda guardada en el historial.</a:t>
            </a:r>
          </a:p>
        </p:txBody>
      </p:sp>
      <p:sp>
        <p:nvSpPr>
          <p:cNvPr id="43" name="Usuario de demostración"/>
          <p:cNvSpPr/>
          <p:nvPr/>
        </p:nvSpPr>
        <p:spPr>
          <a:xfrm>
            <a:off x="722376" y="5440680"/>
            <a:ext cx="12344400" cy="77724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440680"/>
            <a:ext cx="11704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BDCD15"/>
                </a:solidFill>
                <a:latin typeface="Calibri"/>
              </a:rPr>
              <a:t>Usamos un usuario de demostración: </a:t>
            </a:r>
            <a:r>
              <a:rPr sz="2000" b="0">
                <a:solidFill>
                  <a:srgbClr val="FFFFFF"/>
                </a:solidFill>
                <a:latin typeface="Calibri"/>
              </a:rPr>
              <a:t>no hay datos personales reales ni contraseñas visibles.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Acceso seguro</a:t>
            </a:r>
            <a:endParaRPr lang="es-ES" sz="3600" b="1" dirty="0">
              <a:latin typeface="Vice City Sans"/>
            </a:endParaRPr>
          </a:p>
        </p:txBody>
      </p:sp>
      <p:pic>
        <p:nvPicPr>
          <p:cNvPr id="18" name="Captura inicio de sesión" descr="ap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17320"/>
            <a:ext cx="3846286" cy="484632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pic>
        <p:nvPicPr>
          <p:cNvPr id="19" name="Captura registro" descr="app_regis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982" y="1417320"/>
            <a:ext cx="3461657" cy="484632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20" name="Entrada obligatoria fondo"/>
          <p:cNvSpPr/>
          <p:nvPr/>
        </p:nvSpPr>
        <p:spPr>
          <a:xfrm>
            <a:off x="8807559" y="155448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Entrada obligatoria icono" descr="lock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869" y="1748789"/>
            <a:ext cx="388620" cy="3886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3399" y="1536192"/>
            <a:ext cx="326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Entrada obligatoria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3399" y="1965960"/>
            <a:ext cx="3262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Sin iniciar sesión no se ve el recomendador.</a:t>
            </a:r>
          </a:p>
        </p:txBody>
      </p:sp>
      <p:sp>
        <p:nvSpPr>
          <p:cNvPr id="24" name="Registro fácil fondo"/>
          <p:cNvSpPr/>
          <p:nvPr/>
        </p:nvSpPr>
        <p:spPr>
          <a:xfrm>
            <a:off x="8807559" y="315468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Registro fácil icono" descr="userplus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869" y="3348990"/>
            <a:ext cx="388620" cy="3886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13399" y="3136392"/>
            <a:ext cx="326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Registro fácil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3399" y="3566160"/>
            <a:ext cx="3262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Con usuario y contraseña, o con una cuenta de Google.</a:t>
            </a:r>
          </a:p>
        </p:txBody>
      </p:sp>
      <p:sp>
        <p:nvSpPr>
          <p:cNvPr id="28" name="Contraseñas cifradas fondo"/>
          <p:cNvSpPr/>
          <p:nvPr/>
        </p:nvSpPr>
        <p:spPr>
          <a:xfrm>
            <a:off x="8807559" y="475488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Contraseñas cifradas icono" descr="shield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869" y="4949190"/>
            <a:ext cx="388620" cy="3886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13399" y="4736592"/>
            <a:ext cx="326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Contraseñas cifradas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3399" y="5166360"/>
            <a:ext cx="3262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Se guardan con hash, nunca en texto plano.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Tu destino ideal</a:t>
            </a:r>
            <a:endParaRPr lang="es-ES" sz="3600" b="1" dirty="0">
              <a:latin typeface="Vice City Sans"/>
            </a:endParaRPr>
          </a:p>
        </p:txBody>
      </p:sp>
      <p:pic>
        <p:nvPicPr>
          <p:cNvPr id="18" name="Captura pantalla principal" descr="app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371600"/>
            <a:ext cx="6550090" cy="493776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9" name="Número 1"/>
          <p:cNvSpPr/>
          <p:nvPr/>
        </p:nvSpPr>
        <p:spPr>
          <a:xfrm>
            <a:off x="7729666" y="150876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6906" y="1481328"/>
            <a:ext cx="45690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Tus preferencias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6906" y="1892807"/>
            <a:ext cx="45690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Escribes tu nombre y marcas tus gustos.</a:t>
            </a:r>
          </a:p>
        </p:txBody>
      </p:sp>
      <p:sp>
        <p:nvSpPr>
          <p:cNvPr id="22" name="Número 2"/>
          <p:cNvSpPr/>
          <p:nvPr/>
        </p:nvSpPr>
        <p:spPr>
          <a:xfrm>
            <a:off x="7729666" y="269748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6906" y="2670048"/>
            <a:ext cx="45690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El entorno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6906" y="3081528"/>
            <a:ext cx="45690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Eliges nacional o internacional.</a:t>
            </a:r>
          </a:p>
        </p:txBody>
      </p:sp>
      <p:sp>
        <p:nvSpPr>
          <p:cNvPr id="25" name="Número 3"/>
          <p:cNvSpPr/>
          <p:nvPr/>
        </p:nvSpPr>
        <p:spPr>
          <a:xfrm>
            <a:off x="7729666" y="388620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6906" y="3858768"/>
            <a:ext cx="45690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Destino recomendado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06" y="4270248"/>
            <a:ext cx="45690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Aparece con foto y descripción.</a:t>
            </a:r>
          </a:p>
        </p:txBody>
      </p:sp>
      <p:sp>
        <p:nvSpPr>
          <p:cNvPr id="28" name="Número 4"/>
          <p:cNvSpPr/>
          <p:nvPr/>
        </p:nvSpPr>
        <p:spPr>
          <a:xfrm>
            <a:off x="7729666" y="507492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6906" y="5047488"/>
            <a:ext cx="45690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Tus búsquedas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6906" y="5458968"/>
            <a:ext cx="45690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El historial se guarda solo.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Un asistente de viajes</a:t>
            </a:r>
            <a:endParaRPr lang="es-ES" sz="3600" b="1" dirty="0">
              <a:latin typeface="Vice City Sans"/>
            </a:endParaRPr>
          </a:p>
        </p:txBody>
      </p:sp>
      <p:pic>
        <p:nvPicPr>
          <p:cNvPr id="18" name="Captura asistente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371600"/>
            <a:ext cx="4006964" cy="493776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277980" y="1417320"/>
            <a:ext cx="77979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Pregúntale lo que necesitas para viajar</a:t>
            </a:r>
          </a:p>
        </p:txBody>
      </p:sp>
      <p:sp>
        <p:nvSpPr>
          <p:cNvPr id="20" name="Cómo llegar fondo"/>
          <p:cNvSpPr/>
          <p:nvPr/>
        </p:nvSpPr>
        <p:spPr>
          <a:xfrm>
            <a:off x="5277980" y="214884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Cómo llegar icono" descr="plan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90" y="2343150"/>
            <a:ext cx="388620" cy="3886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83820" y="2130552"/>
            <a:ext cx="67921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Cómo llegar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3820" y="2560320"/>
            <a:ext cx="67921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Te deja un buscador de vuelos ya armado.</a:t>
            </a:r>
          </a:p>
        </p:txBody>
      </p:sp>
      <p:sp>
        <p:nvSpPr>
          <p:cNvPr id="24" name="Dónde quedarte fondo"/>
          <p:cNvSpPr/>
          <p:nvPr/>
        </p:nvSpPr>
        <p:spPr>
          <a:xfrm>
            <a:off x="5277980" y="333756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ónde quedarte icono" descr="hotel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290" y="3531870"/>
            <a:ext cx="388620" cy="3886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83820" y="3319272"/>
            <a:ext cx="67921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Dónde quedarte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3820" y="3749040"/>
            <a:ext cx="67921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Te lleva a opciones de hoteles del destino.</a:t>
            </a:r>
          </a:p>
        </p:txBody>
      </p:sp>
      <p:sp>
        <p:nvSpPr>
          <p:cNvPr id="28" name="Cuándo ir fondo"/>
          <p:cNvSpPr/>
          <p:nvPr/>
        </p:nvSpPr>
        <p:spPr>
          <a:xfrm>
            <a:off x="5277980" y="4526280"/>
            <a:ext cx="777240" cy="7772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Cuándo ir icono" descr="cloud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290" y="4720590"/>
            <a:ext cx="388620" cy="3886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3820" y="4507992"/>
            <a:ext cx="67921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Cuándo 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3820" y="4937760"/>
            <a:ext cx="67921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Consulta el clima del lugar.</a:t>
            </a:r>
          </a:p>
        </p:txBody>
      </p:sp>
      <p:sp>
        <p:nvSpPr>
          <p:cNvPr id="32" name="Nota chatbot"/>
          <p:cNvSpPr/>
          <p:nvPr/>
        </p:nvSpPr>
        <p:spPr>
          <a:xfrm>
            <a:off x="5277980" y="5669280"/>
            <a:ext cx="7797940" cy="6400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52300" y="5669280"/>
            <a:ext cx="72493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Funciona con reglas propias: respuestas rápidas y sin costos extra.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Arquitectura por capas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Capa Usuarios"/>
          <p:cNvSpPr/>
          <p:nvPr/>
        </p:nvSpPr>
        <p:spPr>
          <a:xfrm>
            <a:off x="722376" y="141732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suarios fondo"/>
          <p:cNvSpPr/>
          <p:nvPr/>
        </p:nvSpPr>
        <p:spPr>
          <a:xfrm>
            <a:off x="996696" y="1645920"/>
            <a:ext cx="731520" cy="73152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Usuarios icono" descr="users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82880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6696" y="25146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Usuarios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292608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Visitantes desde el navegador</a:t>
            </a:r>
          </a:p>
        </p:txBody>
      </p:sp>
      <p:sp>
        <p:nvSpPr>
          <p:cNvPr id="23" name="Flecha"/>
          <p:cNvSpPr/>
          <p:nvPr/>
        </p:nvSpPr>
        <p:spPr>
          <a:xfrm>
            <a:off x="3493008" y="2331720"/>
            <a:ext cx="374903" cy="411480"/>
          </a:xfrm>
          <a:prstGeom prst="rightArrow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pa Frontend"/>
          <p:cNvSpPr/>
          <p:nvPr/>
        </p:nvSpPr>
        <p:spPr>
          <a:xfrm>
            <a:off x="3941064" y="141732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ontend fondo"/>
          <p:cNvSpPr/>
          <p:nvPr/>
        </p:nvSpPr>
        <p:spPr>
          <a:xfrm>
            <a:off x="4215384" y="1645920"/>
            <a:ext cx="731520" cy="73152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Frontend icono" descr="desktop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82880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215384" y="25146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5384" y="292608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HTML, CSS y JavaScript con plantillas</a:t>
            </a:r>
          </a:p>
        </p:txBody>
      </p:sp>
      <p:sp>
        <p:nvSpPr>
          <p:cNvPr id="29" name="Flecha"/>
          <p:cNvSpPr/>
          <p:nvPr/>
        </p:nvSpPr>
        <p:spPr>
          <a:xfrm>
            <a:off x="6711696" y="2331720"/>
            <a:ext cx="374903" cy="411480"/>
          </a:xfrm>
          <a:prstGeom prst="rightArrow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pa Backend"/>
          <p:cNvSpPr/>
          <p:nvPr/>
        </p:nvSpPr>
        <p:spPr>
          <a:xfrm>
            <a:off x="7159752" y="141732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ackend fondo"/>
          <p:cNvSpPr/>
          <p:nvPr/>
        </p:nvSpPr>
        <p:spPr>
          <a:xfrm>
            <a:off x="7434072" y="1645920"/>
            <a:ext cx="731520" cy="73152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Backend icono" descr="serv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828800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34072" y="25146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292608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Python y Flask: rutas, modelos y chatbot</a:t>
            </a:r>
          </a:p>
        </p:txBody>
      </p:sp>
      <p:sp>
        <p:nvSpPr>
          <p:cNvPr id="35" name="Flecha"/>
          <p:cNvSpPr/>
          <p:nvPr/>
        </p:nvSpPr>
        <p:spPr>
          <a:xfrm>
            <a:off x="9930384" y="2331720"/>
            <a:ext cx="374903" cy="411480"/>
          </a:xfrm>
          <a:prstGeom prst="rightArrow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pa Base de datos"/>
          <p:cNvSpPr/>
          <p:nvPr/>
        </p:nvSpPr>
        <p:spPr>
          <a:xfrm>
            <a:off x="10378440" y="141732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se de datos fondo"/>
          <p:cNvSpPr/>
          <p:nvPr/>
        </p:nvSpPr>
        <p:spPr>
          <a:xfrm>
            <a:off x="10652760" y="1645920"/>
            <a:ext cx="731520" cy="731520"/>
          </a:xfrm>
          <a:prstGeom prst="ellipse">
            <a:avLst/>
          </a:prstGeom>
          <a:solidFill>
            <a:srgbClr val="BD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Base de datos icono" descr="db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1828800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652760" y="25146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292608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SQLite: tabla de registros</a:t>
            </a:r>
          </a:p>
        </p:txBody>
      </p:sp>
      <p:sp>
        <p:nvSpPr>
          <p:cNvPr id="41" name="¿Por qué capas?"/>
          <p:cNvSpPr/>
          <p:nvPr/>
        </p:nvSpPr>
        <p:spPr>
          <a:xfrm>
            <a:off x="722376" y="4023360"/>
            <a:ext cx="3931920" cy="20116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6" y="42976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¿Por qué capas?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" y="48006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Cada parte se puede cambiar o arreglar sin romper las demás.</a:t>
            </a:r>
          </a:p>
        </p:txBody>
      </p:sp>
      <p:sp>
        <p:nvSpPr>
          <p:cNvPr id="44" name="¿Dónde está?"/>
          <p:cNvSpPr/>
          <p:nvPr/>
        </p:nvSpPr>
        <p:spPr>
          <a:xfrm>
            <a:off x="4928616" y="4023360"/>
            <a:ext cx="3931920" cy="20116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48655" y="42976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¿Dónde está?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5" y="48006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El código está en GitHub y la página está publicada en Render.</a:t>
            </a:r>
          </a:p>
        </p:txBody>
      </p:sp>
      <p:sp>
        <p:nvSpPr>
          <p:cNvPr id="47" name="¿Cómo protegemos?"/>
          <p:cNvSpPr/>
          <p:nvPr/>
        </p:nvSpPr>
        <p:spPr>
          <a:xfrm>
            <a:off x="9134855" y="4023360"/>
            <a:ext cx="3931920" cy="201168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5" y="42976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¿Cómo protegemos?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4895" y="48006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Login obligatorio, contraseñas con hash y claves en variables de entorno.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Tecnologías y un reto técnico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Python"/>
          <p:cNvSpPr/>
          <p:nvPr/>
        </p:nvSpPr>
        <p:spPr>
          <a:xfrm>
            <a:off x="722376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ython fondo"/>
          <p:cNvSpPr/>
          <p:nvPr/>
        </p:nvSpPr>
        <p:spPr>
          <a:xfrm>
            <a:off x="996696" y="169164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ython icono" descr="python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897380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48256" y="16916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8256" y="21488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Lenguaje principal</a:t>
            </a:r>
          </a:p>
        </p:txBody>
      </p:sp>
      <p:sp>
        <p:nvSpPr>
          <p:cNvPr id="23" name="Flask"/>
          <p:cNvSpPr/>
          <p:nvPr/>
        </p:nvSpPr>
        <p:spPr>
          <a:xfrm>
            <a:off x="4928616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ask fondo"/>
          <p:cNvSpPr/>
          <p:nvPr/>
        </p:nvSpPr>
        <p:spPr>
          <a:xfrm>
            <a:off x="5202936" y="169164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Flask icono" descr="flask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5" y="189738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54496" y="16916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Flask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1488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Servidor y rutas con Blueprints</a:t>
            </a:r>
          </a:p>
        </p:txBody>
      </p:sp>
      <p:sp>
        <p:nvSpPr>
          <p:cNvPr id="28" name="SQLite"/>
          <p:cNvSpPr/>
          <p:nvPr/>
        </p:nvSpPr>
        <p:spPr>
          <a:xfrm>
            <a:off x="9134855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QLite fondo"/>
          <p:cNvSpPr/>
          <p:nvPr/>
        </p:nvSpPr>
        <p:spPr>
          <a:xfrm>
            <a:off x="9409176" y="169164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QLite icono" descr="sqlite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915" y="1897380"/>
            <a:ext cx="411480" cy="411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460735" y="16916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SQLite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0735" y="21488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Guarda cada recomendación</a:t>
            </a:r>
          </a:p>
        </p:txBody>
      </p:sp>
      <p:sp>
        <p:nvSpPr>
          <p:cNvPr id="33" name="HTML, CSS y JS"/>
          <p:cNvSpPr/>
          <p:nvPr/>
        </p:nvSpPr>
        <p:spPr>
          <a:xfrm>
            <a:off x="722376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TML, CSS y JS fondo"/>
          <p:cNvSpPr/>
          <p:nvPr/>
        </p:nvSpPr>
        <p:spPr>
          <a:xfrm>
            <a:off x="996696" y="3291839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HTML, CSS y JS icono" descr="web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36" y="3497579"/>
            <a:ext cx="411480" cy="411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48256" y="3291839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HTML, CSS y 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8256" y="3749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Interfaz y animaciones</a:t>
            </a:r>
          </a:p>
        </p:txBody>
      </p:sp>
      <p:sp>
        <p:nvSpPr>
          <p:cNvPr id="38" name="Google Sign-In"/>
          <p:cNvSpPr/>
          <p:nvPr/>
        </p:nvSpPr>
        <p:spPr>
          <a:xfrm>
            <a:off x="4928616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oogle Sign-In fondo"/>
          <p:cNvSpPr/>
          <p:nvPr/>
        </p:nvSpPr>
        <p:spPr>
          <a:xfrm>
            <a:off x="5202936" y="3291839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Google Sign-In icono" descr="google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8675" y="3497579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54496" y="3291839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Google Sign-In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3749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Entrada con cuenta de Google</a:t>
            </a:r>
          </a:p>
        </p:txBody>
      </p:sp>
      <p:sp>
        <p:nvSpPr>
          <p:cNvPr id="43" name="GitHub y Render"/>
          <p:cNvSpPr/>
          <p:nvPr/>
        </p:nvSpPr>
        <p:spPr>
          <a:xfrm>
            <a:off x="9134855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itHub y Render fondo"/>
          <p:cNvSpPr/>
          <p:nvPr/>
        </p:nvSpPr>
        <p:spPr>
          <a:xfrm>
            <a:off x="9409176" y="3291839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GitHub y Render icono" descr="github_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4915" y="3497579"/>
            <a:ext cx="411480" cy="4114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460735" y="3291839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3247F"/>
                </a:solidFill>
                <a:latin typeface="Calibri"/>
              </a:rPr>
              <a:t>GitHub y Render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0735" y="3749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Código y publicación en línea</a:t>
            </a:r>
          </a:p>
        </p:txBody>
      </p:sp>
      <p:sp>
        <p:nvSpPr>
          <p:cNvPr id="48" name="Reto técnico"/>
          <p:cNvSpPr/>
          <p:nvPr/>
        </p:nvSpPr>
        <p:spPr>
          <a:xfrm>
            <a:off x="722376" y="4709160"/>
            <a:ext cx="12344400" cy="160020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4919472"/>
            <a:ext cx="11612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DCD15"/>
                </a:solidFill>
                <a:latin typeface="Calibri"/>
              </a:rPr>
              <a:t>Reto técnico: las fotos del Parque Tayrona salían mal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394960"/>
            <a:ext cx="11612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El buscador traía la imagen de otro lugar con nombre parecido. Lo resolvimos buscando por el título exacto en la API de Wikipedia.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Nuestro equipo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Juan José Zabala Galvis"/>
          <p:cNvSpPr/>
          <p:nvPr/>
        </p:nvSpPr>
        <p:spPr>
          <a:xfrm>
            <a:off x="722376" y="1417320"/>
            <a:ext cx="2880360" cy="29718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íder fondo"/>
          <p:cNvSpPr/>
          <p:nvPr/>
        </p:nvSpPr>
        <p:spPr>
          <a:xfrm>
            <a:off x="996696" y="1645920"/>
            <a:ext cx="731520" cy="73152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Líder icono" descr="flag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82880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6696" y="24688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Juan José Zabala Galvis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3108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3247F"/>
                </a:solidFill>
                <a:latin typeface="Calibri"/>
              </a:rPr>
              <a:t>Líder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35204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Coordinó el proyecto, el código y la publicación.</a:t>
            </a:r>
          </a:p>
        </p:txBody>
      </p:sp>
      <p:sp>
        <p:nvSpPr>
          <p:cNvPr id="24" name="María Angel Vega Medrano"/>
          <p:cNvSpPr/>
          <p:nvPr/>
        </p:nvSpPr>
        <p:spPr>
          <a:xfrm>
            <a:off x="3877056" y="1417320"/>
            <a:ext cx="2880360" cy="29718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álisis fondo"/>
          <p:cNvSpPr/>
          <p:nvPr/>
        </p:nvSpPr>
        <p:spPr>
          <a:xfrm>
            <a:off x="4151376" y="1645920"/>
            <a:ext cx="731520" cy="73152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Análisis icono" descr="chart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82880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51376" y="24688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María Angel Vega Medrano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1376" y="3108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3247F"/>
                </a:solidFill>
                <a:latin typeface="Calibri"/>
              </a:rPr>
              <a:t>Análisis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35204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Definió el problema, los requisitos y las historias de usuario.</a:t>
            </a:r>
          </a:p>
        </p:txBody>
      </p:sp>
      <p:sp>
        <p:nvSpPr>
          <p:cNvPr id="30" name="Salomé Uribe Rengifo"/>
          <p:cNvSpPr/>
          <p:nvPr/>
        </p:nvSpPr>
        <p:spPr>
          <a:xfrm>
            <a:off x="7031736" y="1417320"/>
            <a:ext cx="2880360" cy="29718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seño fondo"/>
          <p:cNvSpPr/>
          <p:nvPr/>
        </p:nvSpPr>
        <p:spPr>
          <a:xfrm>
            <a:off x="7306056" y="1645920"/>
            <a:ext cx="731520" cy="73152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Diseño icono" descr="palette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828800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06056" y="24688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Salomé Uribe Rengifo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6056" y="3108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3247F"/>
                </a:solidFill>
                <a:latin typeface="Calibri"/>
              </a:rPr>
              <a:t>Diseño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6056" y="35204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Creó la interfaz, los colores y los mockups.</a:t>
            </a:r>
          </a:p>
        </p:txBody>
      </p:sp>
      <p:sp>
        <p:nvSpPr>
          <p:cNvPr id="36" name="Matías Tobón García"/>
          <p:cNvSpPr/>
          <p:nvPr/>
        </p:nvSpPr>
        <p:spPr>
          <a:xfrm>
            <a:off x="10186416" y="1417320"/>
            <a:ext cx="2880360" cy="297180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ses de datos fondo"/>
          <p:cNvSpPr/>
          <p:nvPr/>
        </p:nvSpPr>
        <p:spPr>
          <a:xfrm>
            <a:off x="10460736" y="1645920"/>
            <a:ext cx="731520" cy="73152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Bases de datos icono" descr="db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3616" y="1828800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460736" y="24688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Matías Tobón García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3108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3247F"/>
                </a:solidFill>
                <a:latin typeface="Calibri"/>
              </a:rPr>
              <a:t>Bases de datos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0736" y="35204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Diseñó el modelo entidad-relación y las tablas.</a:t>
            </a:r>
          </a:p>
        </p:txBody>
      </p:sp>
      <p:sp>
        <p:nvSpPr>
          <p:cNvPr id="42" name="Lo que aprendimos"/>
          <p:cNvSpPr/>
          <p:nvPr/>
        </p:nvSpPr>
        <p:spPr>
          <a:xfrm>
            <a:off x="722376" y="4663440"/>
            <a:ext cx="6035040" cy="164592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" y="484632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DCD15"/>
                </a:solidFill>
                <a:latin typeface="Calibri"/>
              </a:rPr>
              <a:t>Lo que aprendimos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" y="534924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 trabajar por roles, probar antes de mostrar y resolver errores reales de publicación.</a:t>
            </a:r>
          </a:p>
        </p:txBody>
      </p:sp>
      <p:sp>
        <p:nvSpPr>
          <p:cNvPr id="45" name="Aporte de la Media Técnica"/>
          <p:cNvSpPr/>
          <p:nvPr/>
        </p:nvSpPr>
        <p:spPr>
          <a:xfrm>
            <a:off x="7031736" y="4663440"/>
            <a:ext cx="6035040" cy="1645920"/>
          </a:xfrm>
          <a:prstGeom prst="roundRect">
            <a:avLst>
              <a:gd name="adj" fmla="val 8000"/>
            </a:avLst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484632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DCD15"/>
                </a:solidFill>
                <a:latin typeface="Calibri"/>
              </a:rPr>
              <a:t>Aporte de la Media Técnica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97496" y="534924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Nos dio las bases de programación, bases de datos y análisis para construir un software completo.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Impacto y futuro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Impacto"/>
          <p:cNvSpPr/>
          <p:nvPr/>
        </p:nvSpPr>
        <p:spPr>
          <a:xfrm>
            <a:off x="722376" y="1417320"/>
            <a:ext cx="3931920" cy="484632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mpacto fondo"/>
          <p:cNvSpPr/>
          <p:nvPr/>
        </p:nvSpPr>
        <p:spPr>
          <a:xfrm>
            <a:off x="1042416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pacto icono" descr="bullseye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1943100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2416" y="2743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Impacto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337560"/>
            <a:ext cx="3337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Ayuda a decidir a dónde viajar en segundos.</a:t>
            </a:r>
          </a:p>
          <a:p>
            <a:pPr algn="l" marL="228600" indent="-228600">
              <a:spcBef>
                <a:spcPts val="1200"/>
              </a:spcBef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Guarda el historial de cada usuario.</a:t>
            </a:r>
          </a:p>
          <a:p>
            <a:pPr algn="l" marL="228600" indent="-228600">
              <a:spcBef>
                <a:spcPts val="1200"/>
              </a:spcBef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Ofrece 31 destinos nacionales e internacionales.</a:t>
            </a:r>
          </a:p>
        </p:txBody>
      </p:sp>
      <p:sp>
        <p:nvSpPr>
          <p:cNvPr id="23" name="Falta por mejorar"/>
          <p:cNvSpPr/>
          <p:nvPr/>
        </p:nvSpPr>
        <p:spPr>
          <a:xfrm>
            <a:off x="4928616" y="1417320"/>
            <a:ext cx="3931920" cy="484632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alta por mejorar fondo"/>
          <p:cNvSpPr/>
          <p:nvPr/>
        </p:nvSpPr>
        <p:spPr>
          <a:xfrm>
            <a:off x="5248655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Falta por mejorar icono" descr="wrench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5" y="194310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48655" y="2743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Falta por mejorar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5" y="3337560"/>
            <a:ext cx="3337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Publicar el acceso con Google para todos (hoy está en modo de prueba).</a:t>
            </a:r>
          </a:p>
          <a:p>
            <a:pPr algn="l" marL="228600" indent="-228600">
              <a:spcBef>
                <a:spcPts val="1200"/>
              </a:spcBef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Un alojamiento que no se duerma ni borre archivos.</a:t>
            </a:r>
          </a:p>
          <a:p>
            <a:pPr algn="l" marL="228600" indent="-228600">
              <a:spcBef>
                <a:spcPts val="1200"/>
              </a:spcBef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Más destinos y fotos.</a:t>
            </a:r>
          </a:p>
        </p:txBody>
      </p:sp>
      <p:sp>
        <p:nvSpPr>
          <p:cNvPr id="28" name="Podríamos agregar"/>
          <p:cNvSpPr/>
          <p:nvPr/>
        </p:nvSpPr>
        <p:spPr>
          <a:xfrm>
            <a:off x="9134855" y="1417320"/>
            <a:ext cx="3931920" cy="484632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dríamos agregar fondo"/>
          <p:cNvSpPr/>
          <p:nvPr/>
        </p:nvSpPr>
        <p:spPr>
          <a:xfrm>
            <a:off x="9454895" y="1737360"/>
            <a:ext cx="822960" cy="82296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odríamos agregar icono" descr="bulb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5" y="1943100"/>
            <a:ext cx="411480" cy="411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54895" y="2743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Podríamos agregar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5" y="3337560"/>
            <a:ext cx="3337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Presupuesto y fechas del viaje.</a:t>
            </a:r>
          </a:p>
          <a:p>
            <a:pPr algn="l" marL="228600" indent="-228600">
              <a:spcBef>
                <a:spcPts val="1200"/>
              </a:spcBef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Mapas y rutas.</a:t>
            </a:r>
          </a:p>
          <a:p>
            <a:pPr algn="l" marL="228600" indent="-228600">
              <a:spcBef>
                <a:spcPts val="1200"/>
              </a:spcBef>
              <a:buChar char="•"/>
            </a:pPr>
            <a:r>
              <a:rPr sz="2000" b="0">
                <a:solidFill>
                  <a:srgbClr val="2B2B2B"/>
                </a:solidFill>
                <a:latin typeface="Calibri"/>
              </a:rPr>
              <a:t>App móvil y reseñas de usuarios.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">
            <a:extLst>
              <a:ext uri="{FF2B5EF4-FFF2-40B4-BE49-F238E27FC236}">
                <a16:creationId xmlns:a16="http://schemas.microsoft.com/office/drawing/2014/main" id="{C59EEF61-84CF-42F0-8015-20EAB52F0574}"/>
              </a:ext>
            </a:extLst>
          </p:cNvPr>
          <p:cNvSpPr/>
          <p:nvPr/>
        </p:nvSpPr>
        <p:spPr>
          <a:xfrm>
            <a:off x="722296" y="375603"/>
            <a:ext cx="932688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Vice City Sans"/>
                <a:cs typeface="Calibri Light"/>
              </a:rPr>
              <a:t>Gracias</a:t>
            </a:r>
            <a:endParaRPr lang="es-ES" sz="3600" b="1" dirty="0">
              <a:latin typeface="Vice City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" y="16002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3247F"/>
                </a:solidFill>
                <a:latin typeface="Calibri"/>
              </a:rPr>
              <a:t>FindYourPlace convierte tus gustos en un destino con foto y un asistente que te ayuda a viajar.</a:t>
            </a:r>
          </a:p>
        </p:txBody>
      </p:sp>
      <p:sp>
        <p:nvSpPr>
          <p:cNvPr id="19" name="Número 1"/>
          <p:cNvSpPr/>
          <p:nvPr/>
        </p:nvSpPr>
        <p:spPr>
          <a:xfrm>
            <a:off x="722376" y="315468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729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Construimos un software completo, del análisis a la publicación.</a:t>
            </a:r>
          </a:p>
        </p:txBody>
      </p:sp>
      <p:sp>
        <p:nvSpPr>
          <p:cNvPr id="21" name="Número 2"/>
          <p:cNvSpPr/>
          <p:nvPr/>
        </p:nvSpPr>
        <p:spPr>
          <a:xfrm>
            <a:off x="722376" y="406908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873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Lo hicimos en equipo, cada uno con su rol.</a:t>
            </a:r>
          </a:p>
        </p:txBody>
      </p:sp>
      <p:sp>
        <p:nvSpPr>
          <p:cNvPr id="23" name="Número 3"/>
          <p:cNvSpPr/>
          <p:nvPr/>
        </p:nvSpPr>
        <p:spPr>
          <a:xfrm>
            <a:off x="722376" y="4983480"/>
            <a:ext cx="548640" cy="548640"/>
          </a:xfrm>
          <a:prstGeom prst="ellipse">
            <a:avLst/>
          </a:prstGeom>
          <a:solidFill>
            <a:srgbClr val="6324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BDCD15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17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Te invitamos a probarlo en nuestra mesa.</a:t>
            </a:r>
          </a:p>
        </p:txBody>
      </p:sp>
      <p:sp>
        <p:nvSpPr>
          <p:cNvPr id="25" name="Fondo QR"/>
          <p:cNvSpPr/>
          <p:nvPr/>
        </p:nvSpPr>
        <p:spPr>
          <a:xfrm>
            <a:off x="8412480" y="1554480"/>
            <a:ext cx="4023360" cy="4709160"/>
          </a:xfrm>
          <a:prstGeom prst="roundRect">
            <a:avLst>
              <a:gd name="adj" fmla="val 8000"/>
            </a:avLst>
          </a:prstGeom>
          <a:solidFill>
            <a:srgbClr val="F1F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Código QR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828800"/>
            <a:ext cx="3291840" cy="3291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95360" y="53492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63247F"/>
                </a:solidFill>
                <a:latin typeface="Calibri"/>
              </a:rPr>
              <a:t>Escanea y pruébalo</a:t>
            </a:r>
          </a:p>
          <a:p>
            <a:pPr algn="ctr"/>
            <a:r>
              <a:rPr sz="1500" b="0">
                <a:solidFill>
                  <a:srgbClr val="2B2B2B"/>
                </a:solidFill>
                <a:latin typeface="Calibri"/>
              </a:rPr>
              <a:t>paginapublicada.onrender.com</a:t>
            </a:r>
          </a:p>
        </p:txBody>
      </p:sp>
    </p:spTree>
    <p:extLst>
      <p:ext uri="{BB962C8B-B14F-4D97-AF65-F5344CB8AC3E}">
        <p14:creationId xmlns:p14="http://schemas.microsoft.com/office/powerpoint/2010/main" val="1272014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565FEF2D-9156-41B9-B740-8A33A508B1EF}"/>
              </a:ext>
            </a:extLst>
          </p:cNvPr>
          <p:cNvSpPr/>
          <p:nvPr/>
        </p:nvSpPr>
        <p:spPr>
          <a:xfrm>
            <a:off x="1095171" y="4307843"/>
            <a:ext cx="950976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solidFill>
                  <a:srgbClr val="FFFFFF"/>
                </a:solidFill>
                <a:latin typeface="Vice City Sans"/>
                <a:cs typeface="Calibri Light"/>
              </a:rPr>
              <a:t>Por dentro</a:t>
            </a:r>
            <a:endParaRPr lang="es-ES" sz="3600" b="1" dirty="0">
              <a:latin typeface="Vice City Sans"/>
            </a:endParaRPr>
          </a:p>
        </p:txBody>
      </p:sp>
      <p:sp>
        <p:nvSpPr>
          <p:cNvPr id="3" name="Subtítulo"/>
          <p:cNvSpPr txBox="1"/>
          <p:nvPr/>
        </p:nvSpPr>
        <p:spPr>
          <a:xfrm>
            <a:off x="1188720" y="5074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DCD15"/>
                </a:solidFill>
                <a:latin typeface="Calibri"/>
              </a:rPr>
              <a:t>Cómo está construido</a:t>
            </a:r>
          </a:p>
        </p:txBody>
      </p:sp>
    </p:spTree>
    <p:extLst>
      <p:ext uri="{BB962C8B-B14F-4D97-AF65-F5344CB8AC3E}">
        <p14:creationId xmlns:p14="http://schemas.microsoft.com/office/powerpoint/2010/main" val="4197592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565FEF2D-9156-41B9-B740-8A33A508B1EF}"/>
              </a:ext>
            </a:extLst>
          </p:cNvPr>
          <p:cNvSpPr/>
          <p:nvPr/>
        </p:nvSpPr>
        <p:spPr>
          <a:xfrm>
            <a:off x="1095171" y="4307843"/>
            <a:ext cx="9509760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solidFill>
                  <a:srgbClr val="FFFFFF"/>
                </a:solidFill>
                <a:latin typeface="Vice City Sans"/>
                <a:cs typeface="Calibri Light"/>
              </a:rPr>
              <a:t>Equipo e impacto</a:t>
            </a:r>
            <a:endParaRPr lang="es-ES" sz="3600" b="1" dirty="0">
              <a:latin typeface="Vice City Sans"/>
            </a:endParaRPr>
          </a:p>
        </p:txBody>
      </p:sp>
      <p:sp>
        <p:nvSpPr>
          <p:cNvPr id="3" name="Subtítulo"/>
          <p:cNvSpPr txBox="1"/>
          <p:nvPr/>
        </p:nvSpPr>
        <p:spPr>
          <a:xfrm>
            <a:off x="1188720" y="5074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DCD15"/>
                </a:solidFill>
                <a:latin typeface="Calibri"/>
              </a:rPr>
              <a:t>Qué aprendimos y hacia dónde vamos</a:t>
            </a:r>
          </a:p>
        </p:txBody>
      </p:sp>
    </p:spTree>
    <p:extLst>
      <p:ext uri="{BB962C8B-B14F-4D97-AF65-F5344CB8AC3E}">
        <p14:creationId xmlns:p14="http://schemas.microsoft.com/office/powerpoint/2010/main" val="419759204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D455D08A2E124C89A874D7A7B3C5BD" ma:contentTypeVersion="18" ma:contentTypeDescription="Create a new document." ma:contentTypeScope="" ma:versionID="631abae85fb62939660b9932ad94bc8e">
  <xsd:schema xmlns:xsd="http://www.w3.org/2001/XMLSchema" xmlns:xs="http://www.w3.org/2001/XMLSchema" xmlns:p="http://schemas.microsoft.com/office/2006/metadata/properties" xmlns:ns3="19499a9b-ea0b-42a1-9904-e7158eea1d71" xmlns:ns4="a7b4be2e-f72c-4391-a72c-a9a8c1a01414" targetNamespace="http://schemas.microsoft.com/office/2006/metadata/properties" ma:root="true" ma:fieldsID="3d2c59848b3665eff2e0fc23e81ce0e5" ns3:_="" ns4:_="">
    <xsd:import namespace="19499a9b-ea0b-42a1-9904-e7158eea1d71"/>
    <xsd:import namespace="a7b4be2e-f72c-4391-a72c-a9a8c1a014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99a9b-ea0b-42a1-9904-e7158eea1d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4be2e-f72c-4391-a72c-a9a8c1a0141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499a9b-ea0b-42a1-9904-e7158eea1d7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6EF8B2-E119-46E6-9550-451B15E441E4}">
  <ds:schemaRefs>
    <ds:schemaRef ds:uri="19499a9b-ea0b-42a1-9904-e7158eea1d71"/>
    <ds:schemaRef ds:uri="a7b4be2e-f72c-4391-a72c-a9a8c1a014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F265B3-139D-494F-9C04-BD73392AB99E}">
  <ds:schemaRefs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19499a9b-ea0b-42a1-9904-e7158eea1d71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7b4be2e-f72c-4391-a72c-a9a8c1a01414"/>
  </ds:schemaRefs>
</ds:datastoreItem>
</file>

<file path=customXml/itemProps3.xml><?xml version="1.0" encoding="utf-8"?>
<ds:datastoreItem xmlns:ds="http://schemas.openxmlformats.org/officeDocument/2006/customXml" ds:itemID="{9649F75F-E386-4344-B4C5-69D716DC4D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</TotalTime>
  <Words>2</Words>
  <Application>Microsoft Office PowerPoint</Application>
  <PresentationFormat>Personalizado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Vice City Sans</vt:lpstr>
      <vt:lpstr>1_Tema de Office</vt:lpstr>
      <vt:lpstr>2_Tema de Office</vt:lpstr>
      <vt:lpstr>3_Tema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PRESENTACIÓN</dc:title>
  <dc:creator>Microsoft Office User</dc:creator>
  <cp:lastModifiedBy>Karla Cristina Berrio</cp:lastModifiedBy>
  <cp:revision>46</cp:revision>
  <dcterms:created xsi:type="dcterms:W3CDTF">2022-11-30T18:54:24Z</dcterms:created>
  <dcterms:modified xsi:type="dcterms:W3CDTF">2026-02-23T19:34:08Z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0x01010020D455D08A2E124C89A874D7A7B3C5BD</vt:lpwstr>
  </property>
</Properties>
</file>